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League Spartan" charset="1" panose="00000800000000000000"/>
      <p:regular r:id="rId10"/>
    </p:embeddedFont>
    <p:embeddedFont>
      <p:font typeface="Canva Sans Bold" charset="1" panose="020B0803030501040103"/>
      <p:regular r:id="rId11"/>
    </p:embeddedFont>
    <p:embeddedFont>
      <p:font typeface="Canva Sans" charset="1" panose="020B05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292885"/>
            <a:ext cx="16596360" cy="993267"/>
            <a:chOff x="0" y="0"/>
            <a:chExt cx="22128480" cy="1324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324356"/>
            </a:xfrm>
            <a:custGeom>
              <a:avLst/>
              <a:gdLst/>
              <a:ahLst/>
              <a:cxnLst/>
              <a:rect r="r" b="b" t="t" l="l"/>
              <a:pathLst>
                <a:path h="132435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24356"/>
                  </a:lnTo>
                  <a:lnTo>
                    <a:pt x="0" y="13243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598" r="0" b="-26354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3338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1F2E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Kubara x </a:t>
              </a:r>
              <a:r>
                <a:rPr lang="en-US" sz="4500">
                  <a:solidFill>
                    <a:srgbClr val="1F2E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Argo CD Sizing &amp; Limits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286152"/>
            <a:ext cx="16596360" cy="438912"/>
            <a:chOff x="0" y="0"/>
            <a:chExt cx="22128480" cy="585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85216"/>
            </a:xfrm>
            <a:custGeom>
              <a:avLst/>
              <a:gdLst/>
              <a:ahLst/>
              <a:cxnLst/>
              <a:rect r="r" b="b" t="t" l="l"/>
              <a:pathLst>
                <a:path h="58521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777" r="0" b="-6867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5C6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All object counts = live objects in the Argo CD controller cache</a:t>
              </a:r>
              <a:r>
                <a:rPr lang="en-US" sz="1950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·  tested with applications distributed per cluster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851660"/>
            <a:ext cx="5212080" cy="6858000"/>
            <a:chOff x="0" y="0"/>
            <a:chExt cx="6949440" cy="9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44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949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03136" y="0"/>
                  </a:lnTo>
                  <a:cubicBezTo>
                    <a:pt x="6883908" y="0"/>
                    <a:pt x="6949440" y="65532"/>
                    <a:pt x="6949440" y="146304"/>
                  </a:cubicBezTo>
                  <a:lnTo>
                    <a:pt x="6949440" y="8997696"/>
                  </a:lnTo>
                  <a:cubicBezTo>
                    <a:pt x="6949440" y="9078468"/>
                    <a:pt x="6883908" y="9144000"/>
                    <a:pt x="6803136" y="9144000"/>
                  </a:cubicBezTo>
                  <a:lnTo>
                    <a:pt x="146304" y="9144000"/>
                  </a:lnTo>
                  <a:cubicBezTo>
                    <a:pt x="65532" y="9144000"/>
                    <a:pt x="0" y="9078468"/>
                    <a:pt x="0" y="8997696"/>
                  </a:cubicBezTo>
                  <a:close/>
                </a:path>
              </a:pathLst>
            </a:custGeom>
            <a:solidFill>
              <a:srgbClr val="6CCFCF">
                <a:alpha val="19608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96569" y="2153412"/>
            <a:ext cx="3566160" cy="498174"/>
            <a:chOff x="0" y="0"/>
            <a:chExt cx="4754880" cy="664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664232"/>
            </a:xfrm>
            <a:custGeom>
              <a:avLst/>
              <a:gdLst/>
              <a:ahLst/>
              <a:cxnLst/>
              <a:rect r="r" b="b" t="t" l="l"/>
              <a:pathLst>
                <a:path h="6642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64232"/>
                  </a:lnTo>
                  <a:lnTo>
                    <a:pt x="0" y="664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30" r="0" b="-8353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754880" cy="664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 · Starter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96569" y="2592324"/>
            <a:ext cx="35661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Start small, cost efficiency first, 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no HA needed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65860" y="3163132"/>
            <a:ext cx="4526280" cy="1190104"/>
            <a:chOff x="0" y="0"/>
            <a:chExt cx="6035040" cy="15868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35040" cy="1586805"/>
            </a:xfrm>
            <a:custGeom>
              <a:avLst/>
              <a:gdLst/>
              <a:ahLst/>
              <a:cxnLst/>
              <a:rect r="r" b="b" t="t" l="l"/>
              <a:pathLst>
                <a:path h="1586805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1" r="0" b="-86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03504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2809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~6k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65860" y="4251960"/>
            <a:ext cx="452628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controller cache objects — limit of the default configuration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5860" y="5033772"/>
            <a:ext cx="4526280" cy="384048"/>
            <a:chOff x="0" y="0"/>
            <a:chExt cx="603504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60350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Tested configuration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5472684"/>
            <a:ext cx="2606040" cy="384048"/>
            <a:chOff x="0" y="0"/>
            <a:chExt cx="347472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Clusters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29000" y="5472684"/>
            <a:ext cx="2263140" cy="384048"/>
            <a:chOff x="0" y="0"/>
            <a:chExt cx="301752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~50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5860" y="5884164"/>
            <a:ext cx="2606040" cy="384048"/>
            <a:chOff x="0" y="0"/>
            <a:chExt cx="3474720" cy="5120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Apps per cluster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29000" y="5884164"/>
            <a:ext cx="2263140" cy="384048"/>
            <a:chOff x="0" y="0"/>
            <a:chExt cx="3017520" cy="5120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5860" y="6295644"/>
            <a:ext cx="2606040" cy="384048"/>
            <a:chOff x="0" y="0"/>
            <a:chExt cx="347472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Applications total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429000" y="6295644"/>
            <a:ext cx="2263140" cy="384048"/>
            <a:chOff x="0" y="0"/>
            <a:chExt cx="3017520" cy="512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~300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65860" y="6707124"/>
            <a:ext cx="2606040" cy="384048"/>
            <a:chOff x="0" y="0"/>
            <a:chExt cx="3474720" cy="5120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Argo CD HA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429000" y="6707124"/>
            <a:ext cx="2263140" cy="384048"/>
            <a:chOff x="0" y="0"/>
            <a:chExt cx="3017520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5860" y="7269480"/>
            <a:ext cx="4526280" cy="384048"/>
            <a:chOff x="0" y="0"/>
            <a:chExt cx="6035040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60350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Required action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165860" y="7653528"/>
            <a:ext cx="45262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F2E33"/>
                </a:solidFill>
                <a:latin typeface="Canva Sans"/>
                <a:ea typeface="Canva Sans"/>
                <a:cs typeface="Canva Sans"/>
                <a:sym typeface="Canva Sans"/>
              </a:rPr>
              <a:t>None — covered by the default kubara catalog.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515100" y="1851660"/>
            <a:ext cx="5212080" cy="6858000"/>
            <a:chOff x="0" y="0"/>
            <a:chExt cx="6949440" cy="9144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4944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949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03136" y="0"/>
                  </a:lnTo>
                  <a:cubicBezTo>
                    <a:pt x="6883908" y="0"/>
                    <a:pt x="6949440" y="65532"/>
                    <a:pt x="6949440" y="146304"/>
                  </a:cubicBezTo>
                  <a:lnTo>
                    <a:pt x="6949440" y="8997696"/>
                  </a:lnTo>
                  <a:cubicBezTo>
                    <a:pt x="6949440" y="9078468"/>
                    <a:pt x="6883908" y="9144000"/>
                    <a:pt x="6803136" y="9144000"/>
                  </a:cubicBezTo>
                  <a:lnTo>
                    <a:pt x="146304" y="9144000"/>
                  </a:lnTo>
                  <a:cubicBezTo>
                    <a:pt x="65532" y="9144000"/>
                    <a:pt x="0" y="9078468"/>
                    <a:pt x="0" y="8997696"/>
                  </a:cubicBezTo>
                  <a:close/>
                </a:path>
              </a:pathLst>
            </a:custGeom>
            <a:solidFill>
              <a:srgbClr val="6CCFCF">
                <a:alpha val="40000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061007" y="2153412"/>
            <a:ext cx="3566160" cy="498174"/>
            <a:chOff x="0" y="0"/>
            <a:chExt cx="4754880" cy="66423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54880" cy="664232"/>
            </a:xfrm>
            <a:custGeom>
              <a:avLst/>
              <a:gdLst/>
              <a:ahLst/>
              <a:cxnLst/>
              <a:rect r="r" b="b" t="t" l="l"/>
              <a:pathLst>
                <a:path h="6642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64232"/>
                  </a:lnTo>
                  <a:lnTo>
                    <a:pt x="0" y="664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30" r="0" b="-8353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754880" cy="664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 · Standard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061007" y="2592324"/>
            <a:ext cx="35661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Growing apps &amp; clusters, 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HA not yet required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858000" y="3176156"/>
            <a:ext cx="4526280" cy="1190104"/>
            <a:chOff x="0" y="0"/>
            <a:chExt cx="6035040" cy="158680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35040" cy="1586805"/>
            </a:xfrm>
            <a:custGeom>
              <a:avLst/>
              <a:gdLst/>
              <a:ahLst/>
              <a:cxnLst/>
              <a:rect r="r" b="b" t="t" l="l"/>
              <a:pathLst>
                <a:path h="1586805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1" r="0" b="-868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03504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2809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~10k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6858000" y="4251960"/>
            <a:ext cx="452628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controller cache objects — tested configuration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858000" y="5033772"/>
            <a:ext cx="4526280" cy="384048"/>
            <a:chOff x="0" y="0"/>
            <a:chExt cx="6035040" cy="5120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60350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Tested configuration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0" y="5472684"/>
            <a:ext cx="2606040" cy="384048"/>
            <a:chOff x="0" y="0"/>
            <a:chExt cx="3474720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Clusters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21140" y="5472684"/>
            <a:ext cx="2263140" cy="384048"/>
            <a:chOff x="0" y="0"/>
            <a:chExt cx="3017520" cy="5120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~100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0" y="5884164"/>
            <a:ext cx="2606040" cy="384048"/>
            <a:chOff x="0" y="0"/>
            <a:chExt cx="3474720" cy="5120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Apps per cluster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21140" y="5884164"/>
            <a:ext cx="2263140" cy="384048"/>
            <a:chOff x="0" y="0"/>
            <a:chExt cx="3017520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58000" y="6295644"/>
            <a:ext cx="2606040" cy="384048"/>
            <a:chOff x="0" y="0"/>
            <a:chExt cx="3474720" cy="5120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Applications total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121140" y="6295644"/>
            <a:ext cx="2263140" cy="384048"/>
            <a:chOff x="0" y="0"/>
            <a:chExt cx="3017520" cy="51206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~600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858000" y="6707124"/>
            <a:ext cx="2606040" cy="384048"/>
            <a:chOff x="0" y="0"/>
            <a:chExt cx="3474720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Argo CD HA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21140" y="6707124"/>
            <a:ext cx="2263140" cy="384048"/>
            <a:chOff x="0" y="0"/>
            <a:chExt cx="3017520" cy="512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858000" y="7269480"/>
            <a:ext cx="4526280" cy="384048"/>
            <a:chOff x="0" y="0"/>
            <a:chExt cx="6035040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9525"/>
              <a:ext cx="60350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Required action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6858000" y="7653528"/>
            <a:ext cx="452628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F2E33"/>
                </a:solidFill>
                <a:latin typeface="Canva Sans"/>
                <a:ea typeface="Canva Sans"/>
                <a:cs typeface="Canva Sans"/>
                <a:sym typeface="Canva Sans"/>
              </a:rPr>
              <a:t>Increase limits, requests &amp; storage.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12207240" y="1851660"/>
            <a:ext cx="5212080" cy="6858000"/>
            <a:chOff x="0" y="0"/>
            <a:chExt cx="6949440" cy="9144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94944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9494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03136" y="0"/>
                  </a:lnTo>
                  <a:cubicBezTo>
                    <a:pt x="6883908" y="0"/>
                    <a:pt x="6949440" y="65532"/>
                    <a:pt x="6949440" y="146304"/>
                  </a:cubicBezTo>
                  <a:lnTo>
                    <a:pt x="6949440" y="8997696"/>
                  </a:lnTo>
                  <a:cubicBezTo>
                    <a:pt x="6949440" y="9078468"/>
                    <a:pt x="6883908" y="9144000"/>
                    <a:pt x="6803136" y="9144000"/>
                  </a:cubicBezTo>
                  <a:lnTo>
                    <a:pt x="146304" y="9144000"/>
                  </a:lnTo>
                  <a:cubicBezTo>
                    <a:pt x="65532" y="9144000"/>
                    <a:pt x="0" y="9078468"/>
                    <a:pt x="0" y="8997696"/>
                  </a:cubicBezTo>
                  <a:close/>
                </a:path>
              </a:pathLst>
            </a:custGeom>
            <a:solidFill>
              <a:srgbClr val="6CCFCF">
                <a:alpha val="60000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853160" y="2153412"/>
            <a:ext cx="3566160" cy="498174"/>
            <a:chOff x="0" y="0"/>
            <a:chExt cx="4754880" cy="6642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54880" cy="664232"/>
            </a:xfrm>
            <a:custGeom>
              <a:avLst/>
              <a:gdLst/>
              <a:ahLst/>
              <a:cxnLst/>
              <a:rect r="r" b="b" t="t" l="l"/>
              <a:pathLst>
                <a:path h="66423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64232"/>
                  </a:lnTo>
                  <a:lnTo>
                    <a:pt x="0" y="664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30" r="0" b="-8353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4754880" cy="664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 · Scale</a:t>
              </a: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13866358" y="2592324"/>
            <a:ext cx="35661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Many teams, clusters &amp; repos — 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HA and high performance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2546330" y="3247627"/>
            <a:ext cx="4526280" cy="1190104"/>
            <a:chOff x="0" y="0"/>
            <a:chExt cx="6035040" cy="158680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035040" cy="1586805"/>
            </a:xfrm>
            <a:custGeom>
              <a:avLst/>
              <a:gdLst/>
              <a:ahLst/>
              <a:cxnLst/>
              <a:rect r="r" b="b" t="t" l="l"/>
              <a:pathLst>
                <a:path h="1586805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586805"/>
                  </a:lnTo>
                  <a:lnTo>
                    <a:pt x="0" y="1586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1" r="0" b="-868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6035040" cy="158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2809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~16k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2550140" y="4251960"/>
            <a:ext cx="452628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controller cache objects — tested configuration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2550140" y="5033772"/>
            <a:ext cx="4526280" cy="384048"/>
            <a:chOff x="0" y="0"/>
            <a:chExt cx="6035040" cy="5120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9525"/>
              <a:ext cx="60350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Tested configuration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550140" y="5472684"/>
            <a:ext cx="2606040" cy="384048"/>
            <a:chOff x="0" y="0"/>
            <a:chExt cx="3474720" cy="5120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Clusters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813280" y="5472684"/>
            <a:ext cx="2263140" cy="384048"/>
            <a:chOff x="0" y="0"/>
            <a:chExt cx="3017520" cy="5120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~150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550140" y="5884164"/>
            <a:ext cx="2606040" cy="384048"/>
            <a:chOff x="0" y="0"/>
            <a:chExt cx="3474720" cy="512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Apps per cluster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813280" y="5884164"/>
            <a:ext cx="2263140" cy="384048"/>
            <a:chOff x="0" y="0"/>
            <a:chExt cx="3017520" cy="51206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550140" y="6295644"/>
            <a:ext cx="2606040" cy="384048"/>
            <a:chOff x="0" y="0"/>
            <a:chExt cx="3474720" cy="51206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Applications total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4813280" y="6295644"/>
            <a:ext cx="2263140" cy="384048"/>
            <a:chOff x="0" y="0"/>
            <a:chExt cx="3017520" cy="51206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~900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550140" y="6707124"/>
            <a:ext cx="2606040" cy="384048"/>
            <a:chOff x="0" y="0"/>
            <a:chExt cx="3474720" cy="51206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474720" cy="512064"/>
            </a:xfrm>
            <a:custGeom>
              <a:avLst/>
              <a:gdLst/>
              <a:ahLst/>
              <a:cxnLst/>
              <a:rect r="r" b="b" t="t" l="l"/>
              <a:pathLst>
                <a:path h="51206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34747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727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Argo CD HA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813280" y="6707124"/>
            <a:ext cx="2263140" cy="384048"/>
            <a:chOff x="0" y="0"/>
            <a:chExt cx="3017520" cy="51206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017520" cy="512064"/>
            </a:xfrm>
            <a:custGeom>
              <a:avLst/>
              <a:gdLst/>
              <a:ahLst/>
              <a:cxnLst/>
              <a:rect r="r" b="b" t="t" l="l"/>
              <a:pathLst>
                <a:path h="512064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22" r="0" b="-6482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30175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02809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Yes — required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550140" y="7269480"/>
            <a:ext cx="4526280" cy="384048"/>
            <a:chOff x="0" y="0"/>
            <a:chExt cx="6035040" cy="51206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035040" cy="512064"/>
            </a:xfrm>
            <a:custGeom>
              <a:avLst/>
              <a:gdLst/>
              <a:ahLst/>
              <a:cxnLst/>
              <a:rect r="r" b="b" t="t" l="l"/>
              <a:pathLst>
                <a:path h="51206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9525"/>
              <a:ext cx="60350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2E3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Required action</a:t>
              </a:r>
            </a:p>
          </p:txBody>
        </p:sp>
      </p:grpSp>
      <p:sp>
        <p:nvSpPr>
          <p:cNvPr name="TextBox 130" id="130"/>
          <p:cNvSpPr txBox="true"/>
          <p:nvPr/>
        </p:nvSpPr>
        <p:spPr>
          <a:xfrm rot="0">
            <a:off x="12550140" y="7653528"/>
            <a:ext cx="45262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F2E33"/>
                </a:solidFill>
                <a:latin typeface="Canva Sans"/>
                <a:ea typeface="Canva Sans"/>
                <a:cs typeface="Canva Sans"/>
                <a:sym typeface="Canva Sans"/>
              </a:rPr>
              <a:t>Enable Argo CD HA + increase limits, requests &amp; storage.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822960" y="8983980"/>
            <a:ext cx="1659636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0"/>
              </a:lnSpc>
            </a:pPr>
            <a:r>
              <a:rPr lang="en-US" sz="1691" b="true">
                <a:solidFill>
                  <a:srgbClr val="1F2E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read the object counts:  </a:t>
            </a:r>
            <a:r>
              <a:rPr lang="en-US" sz="1691">
                <a:solidFill>
                  <a:srgbClr val="5B7278"/>
                </a:solidFill>
                <a:latin typeface="Canva Sans"/>
                <a:ea typeface="Canva Sans"/>
                <a:cs typeface="Canva Sans"/>
                <a:sym typeface="Canva Sans"/>
              </a:rPr>
              <a:t>How to read the object counts: 1 application ≈ 10–12 desired objects from Git. The controller cache holds more: live objects (Pods, ReplicaSets) plus the baseline resources of every targeted cluster — roughly 1.5–2× the desired count, i.e. ~17–20 cached objects per application. Heavier applications reach the object thresholds at proportionally lower application counts, which is why the cached-object count, not the application count, is the metric to watch. In tier L, object counts are totals across all controller shards; memory values are per replica.</a:t>
            </a:r>
          </a:p>
        </p:txBody>
      </p:sp>
      <p:sp>
        <p:nvSpPr>
          <p:cNvPr name="Freeform 132" id="132"/>
          <p:cNvSpPr/>
          <p:nvPr/>
        </p:nvSpPr>
        <p:spPr>
          <a:xfrm flipH="false" flipV="false" rot="0">
            <a:off x="455473" y="1725064"/>
            <a:ext cx="1650596" cy="1650596"/>
          </a:xfrm>
          <a:custGeom>
            <a:avLst/>
            <a:gdLst/>
            <a:ahLst/>
            <a:cxnLst/>
            <a:rect r="r" b="b" t="t" l="l"/>
            <a:pathLst>
              <a:path h="1650596" w="1650596">
                <a:moveTo>
                  <a:pt x="0" y="0"/>
                </a:moveTo>
                <a:lnTo>
                  <a:pt x="1650596" y="0"/>
                </a:lnTo>
                <a:lnTo>
                  <a:pt x="1650596" y="1650596"/>
                </a:lnTo>
                <a:lnTo>
                  <a:pt x="0" y="16505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6225540" y="1672799"/>
            <a:ext cx="1648413" cy="1648413"/>
          </a:xfrm>
          <a:custGeom>
            <a:avLst/>
            <a:gdLst/>
            <a:ahLst/>
            <a:cxnLst/>
            <a:rect r="r" b="b" t="t" l="l"/>
            <a:pathLst>
              <a:path h="1648413" w="1648413">
                <a:moveTo>
                  <a:pt x="0" y="0"/>
                </a:moveTo>
                <a:lnTo>
                  <a:pt x="1648413" y="0"/>
                </a:lnTo>
                <a:lnTo>
                  <a:pt x="1648413" y="1648413"/>
                </a:lnTo>
                <a:lnTo>
                  <a:pt x="0" y="1648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11925369" y="1786785"/>
            <a:ext cx="1729603" cy="1729603"/>
          </a:xfrm>
          <a:custGeom>
            <a:avLst/>
            <a:gdLst/>
            <a:ahLst/>
            <a:cxnLst/>
            <a:rect r="r" b="b" t="t" l="l"/>
            <a:pathLst>
              <a:path h="1729603" w="1729603">
                <a:moveTo>
                  <a:pt x="0" y="0"/>
                </a:moveTo>
                <a:lnTo>
                  <a:pt x="1729602" y="0"/>
                </a:lnTo>
                <a:lnTo>
                  <a:pt x="1729602" y="1729603"/>
                </a:lnTo>
                <a:lnTo>
                  <a:pt x="0" y="1729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DAHM_ysIjaA</dc:identifier>
  <dcterms:modified xsi:type="dcterms:W3CDTF">2011-08-01T06:04:30Z</dcterms:modified>
  <cp:revision>1</cp:revision>
  <dc:title>kubara: small, middle - and huge setups</dc:title>
</cp:coreProperties>
</file>